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Open Sans" charset="1" panose="020B0606030504020204"/>
      <p:regular r:id="rId27"/>
    </p:embeddedFont>
    <p:embeddedFont>
      <p:font typeface="Poppins Heavy" charset="1" panose="00000A00000000000000"/>
      <p:regular r:id="rId28"/>
    </p:embeddedFont>
    <p:embeddedFont>
      <p:font typeface="Open Sans Italics" charset="1" panose="020B0606030504020204"/>
      <p:regular r:id="rId29"/>
    </p:embeddedFont>
    <p:embeddedFont>
      <p:font typeface="Open Sans Bold" charset="1" panose="020B08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https://github.com/barbara-rosa05/TP547/tree/main/Trabalho_Final_Parte_3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18609" y="8228447"/>
            <a:ext cx="2440691" cy="1029853"/>
          </a:xfrm>
          <a:custGeom>
            <a:avLst/>
            <a:gdLst/>
            <a:ahLst/>
            <a:cxnLst/>
            <a:rect r="r" b="b" t="t" l="l"/>
            <a:pathLst>
              <a:path h="1029853" w="2440691">
                <a:moveTo>
                  <a:pt x="0" y="0"/>
                </a:moveTo>
                <a:lnTo>
                  <a:pt x="2440691" y="0"/>
                </a:lnTo>
                <a:lnTo>
                  <a:pt x="2440691" y="1029853"/>
                </a:lnTo>
                <a:lnTo>
                  <a:pt x="0" y="102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7548" y="4240603"/>
            <a:ext cx="6232904" cy="3194643"/>
          </a:xfrm>
          <a:custGeom>
            <a:avLst/>
            <a:gdLst/>
            <a:ahLst/>
            <a:cxnLst/>
            <a:rect r="r" b="b" t="t" l="l"/>
            <a:pathLst>
              <a:path h="3194643" w="6232904">
                <a:moveTo>
                  <a:pt x="0" y="0"/>
                </a:moveTo>
                <a:lnTo>
                  <a:pt x="6232904" y="0"/>
                </a:lnTo>
                <a:lnTo>
                  <a:pt x="6232904" y="3194643"/>
                </a:lnTo>
                <a:lnTo>
                  <a:pt x="0" y="3194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16544" y="1528167"/>
            <a:ext cx="11854911" cy="209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b="true" sz="76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DUAS FILAS COM CHEGADA ÚNICA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934325"/>
            <a:ext cx="11462892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100" spc="1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Alunas: Bárbara Cássia Florentino Rosa e Beatriz Bastos Assis</a:t>
            </a:r>
          </a:p>
          <a:p>
            <a:pPr algn="l">
              <a:lnSpc>
                <a:spcPts val="3569"/>
              </a:lnSpc>
            </a:pPr>
            <a:r>
              <a:rPr lang="en-US" sz="2100" spc="1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Professor: Samuel Baraldi Mafra</a:t>
            </a:r>
          </a:p>
          <a:p>
            <a:pPr algn="l">
              <a:lnSpc>
                <a:spcPts val="3569"/>
              </a:lnSpc>
            </a:pPr>
            <a:r>
              <a:rPr lang="en-US" sz="2100" spc="1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Disciplina: TP547 - Princípios de Simulação de Sistemas de Comunicação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21456"/>
            <a:ext cx="16230600" cy="689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 um ramo da matemática que estuda sistemas de espera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Seus objetivos são avaliar métricas de desempenho e desenvolver estratégias para reduzir impactos negativos das filas.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Elementos principais: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Clientes: entidades que requerem atendimento;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Servidores: recursos que prestam serviços.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Aplicações: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tendimento ao cliente; 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Logística;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Manufatura;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Telecomunicações;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 outros.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111116" y="7184782"/>
            <a:ext cx="2065767" cy="1835951"/>
          </a:xfrm>
          <a:custGeom>
            <a:avLst/>
            <a:gdLst/>
            <a:ahLst/>
            <a:cxnLst/>
            <a:rect r="r" b="b" t="t" l="l"/>
            <a:pathLst>
              <a:path h="1835951" w="2065767">
                <a:moveTo>
                  <a:pt x="0" y="0"/>
                </a:moveTo>
                <a:lnTo>
                  <a:pt x="2065768" y="0"/>
                </a:lnTo>
                <a:lnTo>
                  <a:pt x="2065768" y="1835950"/>
                </a:lnTo>
                <a:lnTo>
                  <a:pt x="0" y="1835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1937" y="4715031"/>
            <a:ext cx="2121372" cy="1835951"/>
          </a:xfrm>
          <a:custGeom>
            <a:avLst/>
            <a:gdLst/>
            <a:ahLst/>
            <a:cxnLst/>
            <a:rect r="r" b="b" t="t" l="l"/>
            <a:pathLst>
              <a:path h="1835951" w="2121372">
                <a:moveTo>
                  <a:pt x="0" y="0"/>
                </a:moveTo>
                <a:lnTo>
                  <a:pt x="2121372" y="0"/>
                </a:lnTo>
                <a:lnTo>
                  <a:pt x="2121372" y="1835951"/>
                </a:lnTo>
                <a:lnTo>
                  <a:pt x="0" y="1835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36388" y="7300196"/>
            <a:ext cx="1720536" cy="1720536"/>
          </a:xfrm>
          <a:custGeom>
            <a:avLst/>
            <a:gdLst/>
            <a:ahLst/>
            <a:cxnLst/>
            <a:rect r="r" b="b" t="t" l="l"/>
            <a:pathLst>
              <a:path h="1720536" w="1720536">
                <a:moveTo>
                  <a:pt x="0" y="0"/>
                </a:moveTo>
                <a:lnTo>
                  <a:pt x="1720536" y="0"/>
                </a:lnTo>
                <a:lnTo>
                  <a:pt x="1720536" y="1720536"/>
                </a:lnTo>
                <a:lnTo>
                  <a:pt x="0" y="1720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58577" y="4715031"/>
            <a:ext cx="1300723" cy="2072866"/>
          </a:xfrm>
          <a:custGeom>
            <a:avLst/>
            <a:gdLst/>
            <a:ahLst/>
            <a:cxnLst/>
            <a:rect r="r" b="b" t="t" l="l"/>
            <a:pathLst>
              <a:path h="2072866" w="1300723">
                <a:moveTo>
                  <a:pt x="0" y="0"/>
                </a:moveTo>
                <a:lnTo>
                  <a:pt x="1300723" y="0"/>
                </a:lnTo>
                <a:lnTo>
                  <a:pt x="1300723" y="2072866"/>
                </a:lnTo>
                <a:lnTo>
                  <a:pt x="0" y="2072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Introdução à Teoria de Filas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Aplicações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1456"/>
            <a:ext cx="16230600" cy="689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Saúde: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Direcionamento de pacientes para filas de profissionais disponíveis em uma unidade básica de saúde.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Lazer (eventos, </a:t>
            </a:r>
            <a:r>
              <a:rPr lang="en-US" sz="2499" i="true" spc="199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shows</a:t>
            </a: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parques ou cinemas):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Escolha aleatória de filas para evitar congestionamentos.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Indústria: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Gestão de linhas de montagem balanceadas usando Bernoulli.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Telecomunicações: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Roteadores encaminhando pacotes para filas menos carregadas ou escolhendo aleatoriamente em empate.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386" y="1941038"/>
            <a:ext cx="16303228" cy="316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Duas filas paralelas associadas a dois servidores idênticos. As chegadas seguem processo de Poisson com taxa λ.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 do sistema: JSQ-RTB – (</a:t>
            </a:r>
            <a:r>
              <a:rPr lang="en-US" sz="2499" i="true" spc="19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Join the Shortest Queue with Random Tie-Breaking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clientes escolhem a fila mais curta com desempate aleatório.</a:t>
            </a: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caso de empate (filas com mesmo comprimento), a escolha é aleatória (Bernoulli, p=0,5).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54721" y="5718702"/>
            <a:ext cx="6905929" cy="3539598"/>
          </a:xfrm>
          <a:custGeom>
            <a:avLst/>
            <a:gdLst/>
            <a:ahLst/>
            <a:cxnLst/>
            <a:rect r="r" b="b" t="t" l="l"/>
            <a:pathLst>
              <a:path h="3539598" w="6905929">
                <a:moveTo>
                  <a:pt x="0" y="0"/>
                </a:moveTo>
                <a:lnTo>
                  <a:pt x="6905930" y="0"/>
                </a:lnTo>
                <a:lnTo>
                  <a:pt x="6905930" y="3539598"/>
                </a:lnTo>
                <a:lnTo>
                  <a:pt x="0" y="353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2386" y="1152525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Descrição do Sistema Proposto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6072" y="2310524"/>
            <a:ext cx="16303228" cy="476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Distribuição de Poisson (chegadas):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probabilidade de ocorrerem k chegadas em um intervalo.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Distribuição de Bernoulli (empate):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probabilidade de escolher aleatoriamente uma das filas em empate.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471501" y="3017711"/>
            <a:ext cx="7199742" cy="2495275"/>
          </a:xfrm>
          <a:custGeom>
            <a:avLst/>
            <a:gdLst/>
            <a:ahLst/>
            <a:cxnLst/>
            <a:rect r="r" b="b" t="t" l="l"/>
            <a:pathLst>
              <a:path h="2495275" w="7199742">
                <a:moveTo>
                  <a:pt x="0" y="0"/>
                </a:moveTo>
                <a:lnTo>
                  <a:pt x="7199742" y="0"/>
                </a:lnTo>
                <a:lnTo>
                  <a:pt x="7199742" y="2495275"/>
                </a:lnTo>
                <a:lnTo>
                  <a:pt x="0" y="2495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5583" y="7581026"/>
            <a:ext cx="11271578" cy="1250639"/>
          </a:xfrm>
          <a:custGeom>
            <a:avLst/>
            <a:gdLst/>
            <a:ahLst/>
            <a:cxnLst/>
            <a:rect r="r" b="b" t="t" l="l"/>
            <a:pathLst>
              <a:path h="1250639" w="11271578">
                <a:moveTo>
                  <a:pt x="0" y="0"/>
                </a:moveTo>
                <a:lnTo>
                  <a:pt x="11271578" y="0"/>
                </a:lnTo>
                <a:lnTo>
                  <a:pt x="11271578" y="1250638"/>
                </a:lnTo>
                <a:lnTo>
                  <a:pt x="0" y="1250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6072" y="1522011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Probabilidades do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386" y="2121456"/>
            <a:ext cx="16303228" cy="689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tempos de serviço seguem distribuição genérica G com média 1/μ.</a:t>
            </a: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Isso permite analisar diferentes distribuições, como: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xponencial;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Normal;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Uniforme;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 outras.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Capacidade das filas: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Filas infinitas: todos aguardam.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Filas limitadas: clientes podem ser perdidos (M/G/2/K).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945982" y="2245281"/>
            <a:ext cx="4277004" cy="6775451"/>
          </a:xfrm>
          <a:custGeom>
            <a:avLst/>
            <a:gdLst/>
            <a:ahLst/>
            <a:cxnLst/>
            <a:rect r="r" b="b" t="t" l="l"/>
            <a:pathLst>
              <a:path h="6775451" w="4277004">
                <a:moveTo>
                  <a:pt x="0" y="0"/>
                </a:moveTo>
                <a:lnTo>
                  <a:pt x="4277004" y="0"/>
                </a:lnTo>
                <a:lnTo>
                  <a:pt x="4277004" y="6775451"/>
                </a:lnTo>
                <a:lnTo>
                  <a:pt x="0" y="677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2386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Tempos de Serviço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386" y="6646710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Capacidade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21456"/>
            <a:ext cx="9504462" cy="689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Variáveis de Estado: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Q1(t) e Q2(t): número de clientes em cada fila;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 residual de atendimento de cada servidor;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Disponibilidade de cada servidor.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Chegada;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Início de serviço;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Término de serviço (partida);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Escolha aleatória em caso de empate.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601148" y="1266268"/>
            <a:ext cx="5658152" cy="4293123"/>
          </a:xfrm>
          <a:custGeom>
            <a:avLst/>
            <a:gdLst/>
            <a:ahLst/>
            <a:cxnLst/>
            <a:rect r="r" b="b" t="t" l="l"/>
            <a:pathLst>
              <a:path h="4293123" w="5658152">
                <a:moveTo>
                  <a:pt x="0" y="0"/>
                </a:moveTo>
                <a:lnTo>
                  <a:pt x="5658152" y="0"/>
                </a:lnTo>
                <a:lnTo>
                  <a:pt x="5658152" y="4293122"/>
                </a:lnTo>
                <a:lnTo>
                  <a:pt x="0" y="429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Variáveis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284370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Eventos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2162" y="6691297"/>
            <a:ext cx="7027138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Entidades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32162" y="7455456"/>
            <a:ext cx="6016090" cy="15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Cliente;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Servidor;</a:t>
            </a: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3748" y="3526114"/>
            <a:ext cx="3525552" cy="3579241"/>
          </a:xfrm>
          <a:custGeom>
            <a:avLst/>
            <a:gdLst/>
            <a:ahLst/>
            <a:cxnLst/>
            <a:rect r="r" b="b" t="t" l="l"/>
            <a:pathLst>
              <a:path h="3579241" w="3525552">
                <a:moveTo>
                  <a:pt x="0" y="0"/>
                </a:moveTo>
                <a:lnTo>
                  <a:pt x="3525552" y="0"/>
                </a:lnTo>
                <a:lnTo>
                  <a:pt x="3525552" y="3579241"/>
                </a:lnTo>
                <a:lnTo>
                  <a:pt x="0" y="3579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64718"/>
            <a:ext cx="7924800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Abordagem de Simulação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81806"/>
            <a:ext cx="16230600" cy="640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Foi realizada uma simulação de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eventos discretos implementada em </a:t>
            </a: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Python.</a:t>
            </a: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bibliotecas utilizadas foram: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numpy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(cálculo numérico);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random (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geração de variáveis aleatórias);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simpy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(simulação de eventos discretos);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scipy.stats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(estatística e cálculo de intervalos de confiança);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pandas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(tabelas);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matplotlib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(gráficos).</a:t>
            </a: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 modelar o comportamento estocástico das chegadas e atendimentos.</a:t>
            </a: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Possibilita comparar diferentes políticas de roteamento e distribuições de serviço.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7588" y="3835957"/>
            <a:ext cx="11012824" cy="899006"/>
          </a:xfrm>
          <a:custGeom>
            <a:avLst/>
            <a:gdLst/>
            <a:ahLst/>
            <a:cxnLst/>
            <a:rect r="r" b="b" t="t" l="l"/>
            <a:pathLst>
              <a:path h="899006" w="11012824">
                <a:moveTo>
                  <a:pt x="0" y="0"/>
                </a:moveTo>
                <a:lnTo>
                  <a:pt x="11012824" y="0"/>
                </a:lnTo>
                <a:lnTo>
                  <a:pt x="11012824" y="899006"/>
                </a:lnTo>
                <a:lnTo>
                  <a:pt x="0" y="89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64718"/>
            <a:ext cx="7924800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Geração de Chegadas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81806"/>
            <a:ext cx="16230600" cy="640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chegadas d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clientes foram modeladas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processo de Poisson com taxa λ.</a:t>
            </a: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i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ntervalos entr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chegadas foram gerados por método da função inversa:</a:t>
            </a: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tempos de serviço foram amostrados de distribuições com média 1/μ: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Exponencial;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Erlang;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Log-normal;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Determinística.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60549"/>
            <a:ext cx="16230600" cy="739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Taxa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chegada (λ);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Distribuição de tempo de serviço;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Política de roteamento: JSQ-RTB (fila mais curta com desempate aleatório).</a:t>
            </a: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>
              <a:lnSpc>
                <a:spcPts val="3909"/>
              </a:lnSpc>
            </a:pP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Wq: tempo médio de espera na fila;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Ws: tempo médio no sistema;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Comprimento médio das filas;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Utilização média dos servidores (ρ);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Taxa de perda (Tloss), quando aplicável;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Taxa de saída do sistema (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Tout);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Probabilidade de espera (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Pw);</a:t>
            </a:r>
          </a:p>
          <a:p>
            <a:pPr algn="just" marL="496567" indent="-248284" lvl="1">
              <a:lnSpc>
                <a:spcPts val="3909"/>
              </a:lnSpc>
              <a:buFont typeface="Arial"/>
              <a:buChar char="•"/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Probabilidade de bloqueio (Pb).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365889" y="4861331"/>
            <a:ext cx="6430667" cy="4396969"/>
          </a:xfrm>
          <a:custGeom>
            <a:avLst/>
            <a:gdLst/>
            <a:ahLst/>
            <a:cxnLst/>
            <a:rect r="r" b="b" t="t" l="l"/>
            <a:pathLst>
              <a:path h="4396969" w="6430667">
                <a:moveTo>
                  <a:pt x="0" y="0"/>
                </a:moveTo>
                <a:lnTo>
                  <a:pt x="6430668" y="0"/>
                </a:lnTo>
                <a:lnTo>
                  <a:pt x="6430668" y="4396969"/>
                </a:lnTo>
                <a:lnTo>
                  <a:pt x="0" y="4396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2511"/>
            <a:ext cx="1525750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Entradas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9597"/>
            <a:ext cx="1525750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Métricas de desempenho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2087" y="3909539"/>
            <a:ext cx="13543826" cy="5348761"/>
          </a:xfrm>
          <a:custGeom>
            <a:avLst/>
            <a:gdLst/>
            <a:ahLst/>
            <a:cxnLst/>
            <a:rect r="r" b="b" t="t" l="l"/>
            <a:pathLst>
              <a:path h="5348761" w="13543826">
                <a:moveTo>
                  <a:pt x="0" y="0"/>
                </a:moveTo>
                <a:lnTo>
                  <a:pt x="13543826" y="0"/>
                </a:lnTo>
                <a:lnTo>
                  <a:pt x="13543826" y="5348761"/>
                </a:lnTo>
                <a:lnTo>
                  <a:pt x="0" y="5348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52525"/>
            <a:ext cx="1525750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8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Execução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50563"/>
            <a:ext cx="16230600" cy="145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Foram realizadas 30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repetições independentes por cenário para garantir robustez estatística.</a:t>
            </a: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período de </a:t>
            </a:r>
            <a:r>
              <a:rPr lang="en-US" sz="2299" i="true" spc="183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warm-up</a:t>
            </a: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foi descartado para evitar viés inicial.</a:t>
            </a:r>
          </a:p>
          <a:p>
            <a:pPr algn="just">
              <a:lnSpc>
                <a:spcPts val="3909"/>
              </a:lnSpc>
            </a:pPr>
            <a:r>
              <a:rPr lang="en-US" sz="2299" spc="1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simulação foi executada até tempo Tsim suficiente para estabilidade.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36938"/>
            <a:ext cx="16230600" cy="5559036"/>
          </a:xfrm>
          <a:custGeom>
            <a:avLst/>
            <a:gdLst/>
            <a:ahLst/>
            <a:cxnLst/>
            <a:rect r="r" b="b" t="t" l="l"/>
            <a:pathLst>
              <a:path h="5559036" w="16230600">
                <a:moveTo>
                  <a:pt x="0" y="0"/>
                </a:moveTo>
                <a:lnTo>
                  <a:pt x="16230600" y="0"/>
                </a:lnTo>
                <a:lnTo>
                  <a:pt x="16230600" y="5559036"/>
                </a:lnTo>
                <a:lnTo>
                  <a:pt x="0" y="5559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57701"/>
            <a:ext cx="1525750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8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Fluxograma do evento de chegada do cliente ao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5257" y="2474500"/>
            <a:ext cx="14030586" cy="6502637"/>
          </a:xfrm>
          <a:custGeom>
            <a:avLst/>
            <a:gdLst/>
            <a:ahLst/>
            <a:cxnLst/>
            <a:rect r="r" b="b" t="t" l="l"/>
            <a:pathLst>
              <a:path h="6502637" w="14030586">
                <a:moveTo>
                  <a:pt x="0" y="0"/>
                </a:moveTo>
                <a:lnTo>
                  <a:pt x="14030586" y="0"/>
                </a:lnTo>
                <a:lnTo>
                  <a:pt x="14030586" y="6502637"/>
                </a:lnTo>
                <a:lnTo>
                  <a:pt x="0" y="650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5250" y="1376538"/>
            <a:ext cx="1525750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8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Fluxograma do evento de término de serviço (partida) do cliente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703068"/>
            <a:ext cx="16230600" cy="3956075"/>
          </a:xfrm>
          <a:custGeom>
            <a:avLst/>
            <a:gdLst/>
            <a:ahLst/>
            <a:cxnLst/>
            <a:rect r="r" b="b" t="t" l="l"/>
            <a:pathLst>
              <a:path h="3956075" w="16230600">
                <a:moveTo>
                  <a:pt x="0" y="0"/>
                </a:moveTo>
                <a:lnTo>
                  <a:pt x="16230600" y="0"/>
                </a:lnTo>
                <a:lnTo>
                  <a:pt x="16230600" y="3956076"/>
                </a:lnTo>
                <a:lnTo>
                  <a:pt x="0" y="3956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386" y="2121456"/>
            <a:ext cx="16303228" cy="316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código-fonte utilizado neste trabalho está disponível no </a:t>
            </a:r>
            <a:r>
              <a:rPr lang="en-US" sz="2499" i="true" spc="19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link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  <a:p>
            <a:pPr algn="just">
              <a:lnSpc>
                <a:spcPts val="424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92386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Simulação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5488" y="3337136"/>
            <a:ext cx="15377023" cy="54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b="true" sz="2699" spc="215" u="sng">
                <a:solidFill>
                  <a:srgbClr val="5170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github.com/barbara-rosa05/TP547/tree/main/Trabalho_Final_Parte_3"/>
              </a:rPr>
              <a:t>https://github.com/barbara-rosa05/TP547/tree/main/Trabalho_Final_Parte_3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2694" y="3124757"/>
            <a:ext cx="10882611" cy="6133543"/>
          </a:xfrm>
          <a:custGeom>
            <a:avLst/>
            <a:gdLst/>
            <a:ahLst/>
            <a:cxnLst/>
            <a:rect r="r" b="b" t="t" l="l"/>
            <a:pathLst>
              <a:path h="6133543" w="10882611">
                <a:moveTo>
                  <a:pt x="0" y="0"/>
                </a:moveTo>
                <a:lnTo>
                  <a:pt x="10882612" y="0"/>
                </a:lnTo>
                <a:lnTo>
                  <a:pt x="10882612" y="6133543"/>
                </a:lnTo>
                <a:lnTo>
                  <a:pt x="0" y="613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386" y="2121456"/>
            <a:ext cx="16303228" cy="49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Comparação dos resultados por modelo e distribuição: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386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Resultados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778" y="3658157"/>
            <a:ext cx="8603856" cy="5600143"/>
          </a:xfrm>
          <a:custGeom>
            <a:avLst/>
            <a:gdLst/>
            <a:ahLst/>
            <a:cxnLst/>
            <a:rect r="r" b="b" t="t" l="l"/>
            <a:pathLst>
              <a:path h="5600143" w="8603856">
                <a:moveTo>
                  <a:pt x="0" y="0"/>
                </a:moveTo>
                <a:lnTo>
                  <a:pt x="8603856" y="0"/>
                </a:lnTo>
                <a:lnTo>
                  <a:pt x="8603856" y="5600143"/>
                </a:lnTo>
                <a:lnTo>
                  <a:pt x="0" y="5600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6456" y="3658157"/>
            <a:ext cx="8654766" cy="5600143"/>
          </a:xfrm>
          <a:custGeom>
            <a:avLst/>
            <a:gdLst/>
            <a:ahLst/>
            <a:cxnLst/>
            <a:rect r="r" b="b" t="t" l="l"/>
            <a:pathLst>
              <a:path h="5600143" w="8654766">
                <a:moveTo>
                  <a:pt x="0" y="0"/>
                </a:moveTo>
                <a:lnTo>
                  <a:pt x="8654766" y="0"/>
                </a:lnTo>
                <a:lnTo>
                  <a:pt x="8654766" y="5600143"/>
                </a:lnTo>
                <a:lnTo>
                  <a:pt x="0" y="5600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386" y="2121456"/>
            <a:ext cx="16303228" cy="10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Gráficos de variação do tempo médio de espera na fila e da utilização dos servidores em função da taxa de chegada λ: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386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Resultados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386" y="1851860"/>
            <a:ext cx="16303228" cy="423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simulação considerou apenas dois servidores e cenários com filas independentes, não explorando interações entre filas ou políticas mais avançadas de priorização;</a:t>
            </a:r>
          </a:p>
          <a:p>
            <a:pPr algn="just">
              <a:lnSpc>
                <a:spcPts val="4249"/>
              </a:lnSpc>
            </a:pP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trabalhos futuros, recomenda-se estender o modelo para múltiplos servidores com compartilhamento de filas, análise de diferentes disciplinas de atendimento (FIFO, LIFO, prioridades) e aplicação em contextos específicos como </a:t>
            </a:r>
            <a:r>
              <a:rPr lang="en-US" sz="2499" i="true" spc="199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call </a:t>
            </a: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centers ou redes de telecomunicações, incluindo custos operacionais para otimização do desempenho do sistema.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31269" y="6245839"/>
            <a:ext cx="3025461" cy="3044489"/>
          </a:xfrm>
          <a:custGeom>
            <a:avLst/>
            <a:gdLst/>
            <a:ahLst/>
            <a:cxnLst/>
            <a:rect r="r" b="b" t="t" l="l"/>
            <a:pathLst>
              <a:path h="3044489" w="3025461">
                <a:moveTo>
                  <a:pt x="0" y="0"/>
                </a:moveTo>
                <a:lnTo>
                  <a:pt x="3025462" y="0"/>
                </a:lnTo>
                <a:lnTo>
                  <a:pt x="3025462" y="3044490"/>
                </a:lnTo>
                <a:lnTo>
                  <a:pt x="0" y="304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386" y="1063346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Limitações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386" y="2121456"/>
            <a:ext cx="16303228" cy="689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política JSQ-RTB permite balancear a carga entre os servidores, reduzindo o tempo médio de espera em cenários de baixa e moderada carga;</a:t>
            </a:r>
          </a:p>
          <a:p>
            <a:pPr algn="just">
              <a:lnSpc>
                <a:spcPts val="4249"/>
              </a:lnSpc>
            </a:pP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análise comparativa com métricas teóricas de modelos M/M/1 e M/G/1 demonstrou boa aderência dos resultados simulados, validando a implementação;</a:t>
            </a:r>
          </a:p>
          <a:p>
            <a:pPr algn="just">
              <a:lnSpc>
                <a:spcPts val="4249"/>
              </a:lnSpc>
            </a:pP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inclusão de distribuições de tempo de serviço mais realistas, como normal e uniforme, permitiu observar que a variabilidade no tempo de atendimento impacta significativamente o desempenho do sistema;</a:t>
            </a:r>
          </a:p>
          <a:p>
            <a:pPr algn="just">
              <a:lnSpc>
                <a:spcPts val="4249"/>
              </a:lnSpc>
            </a:pPr>
          </a:p>
          <a:p>
            <a:pPr algn="just" marL="539746" indent="-269873" lvl="1">
              <a:lnSpc>
                <a:spcPts val="4249"/>
              </a:lnSpc>
              <a:buFont typeface="Arial"/>
              <a:buChar char="•"/>
            </a:pPr>
            <a:r>
              <a:rPr lang="en-US" sz="2499" spc="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resultados obtidos contribuem para a compreensão do impacto das políticas de roteamento e das características do tempo de serviço no desempenho de sistemas multi-servidor, podendo apoiar decisões de dimensionamento em aplicações reais.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386" y="1332943"/>
            <a:ext cx="8518581" cy="4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3200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Conclusão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7111" y="2777574"/>
            <a:ext cx="11093779" cy="351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0"/>
              </a:lnSpc>
            </a:pPr>
            <a:r>
              <a:rPr lang="en-US" b="true" sz="10301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OBRIGADA PELA ATENÇÃO!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9582" y="8242801"/>
            <a:ext cx="3121507" cy="1317124"/>
          </a:xfrm>
          <a:custGeom>
            <a:avLst/>
            <a:gdLst/>
            <a:ahLst/>
            <a:cxnLst/>
            <a:rect r="r" b="b" t="t" l="l"/>
            <a:pathLst>
              <a:path h="1317124" w="3121507">
                <a:moveTo>
                  <a:pt x="0" y="0"/>
                </a:moveTo>
                <a:lnTo>
                  <a:pt x="3121507" y="0"/>
                </a:lnTo>
                <a:lnTo>
                  <a:pt x="3121507" y="1317124"/>
                </a:lnTo>
                <a:lnTo>
                  <a:pt x="0" y="131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DAGr1BUJSzU</dc:identifier>
  <dcterms:modified xsi:type="dcterms:W3CDTF">2011-08-01T06:04:30Z</dcterms:modified>
  <cp:revision>1</cp:revision>
  <dc:title>Cópia de Slides TCC</dc:title>
</cp:coreProperties>
</file>